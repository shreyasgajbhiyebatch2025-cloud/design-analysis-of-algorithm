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65" r:id="rId15"/>
    <p:sldId id="271" r:id="rId21"/>
    <p:sldId id="262" r:id="rId12"/>
    <p:sldId id="259" r:id="rId9"/>
    <p:sldId id="268" r:id="rId18"/>
    <p:sldId id="273" r:id="rId23"/>
  </p:sldIdLst>
  <p:sldSz cx="18288000" cy="10287000"/>
  <p:notesSz cx="6858000" cy="9144000"/>
  <p:embeddedFontLst>
    <p:embeddedFont>
      <p:font typeface="Proxima Nova Bold" charset="1" panose="02000506030000020004"/>
      <p:regular r:id="rId24"/>
    </p:embeddedFont>
    <p:embeddedFont>
      <p:font typeface="Proxima Nova" charset="1" panose="02000506030000020004"/>
      <p:regular r:id="rId25"/>
    </p:embeddedFont>
    <p:embeddedFont>
      <p:font typeface="Proxima Nova Italics" charset="1" panose="0200050603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9" Type="http://schemas.openxmlformats.org/officeDocument/2006/relationships/slide" Target="slides/slide4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8" Type="http://schemas.openxmlformats.org/officeDocument/2006/relationships/slide" Target="slides/slide13.xml"/><Relationship Id="rId21" Type="http://schemas.openxmlformats.org/officeDocument/2006/relationships/slide" Target="slides/slide16.xml"/><Relationship Id="rId23" Type="http://schemas.openxmlformats.org/officeDocument/2006/relationships/slide" Target="slides/slide18.xml"/><Relationship Id="rId24" Type="http://schemas.openxmlformats.org/officeDocument/2006/relationships/font" Target="fonts/font24.fntdata"/><Relationship Id="rId25" Type="http://schemas.openxmlformats.org/officeDocument/2006/relationships/font" Target="fonts/font25.fntdata"/><Relationship Id="rId26" Type="http://schemas.openxmlformats.org/officeDocument/2006/relationships/font" Target="fonts/font26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png"/><Relationship Id="rId9" Type="http://schemas.openxmlformats.org/officeDocument/2006/relationships/image" Target="../media/image8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7.png"/><Relationship Id="rId11" Type="http://schemas.openxmlformats.org/officeDocument/2006/relationships/image" Target="../media/image1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Relationship Id="rId4" Type="http://schemas.openxmlformats.org/officeDocument/2006/relationships/image" Target="../media/image26.png"/><Relationship Id="rId5" Type="http://schemas.openxmlformats.org/officeDocument/2006/relationships/image" Target="../media/image27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0.png"/><Relationship Id="rId9" Type="http://schemas.openxmlformats.org/officeDocument/2006/relationships/image" Target="../media/image31.svg"/><Relationship Id="rId10" Type="http://schemas.openxmlformats.org/officeDocument/2006/relationships/image" Target="../media/image32.png"/><Relationship Id="rId11" Type="http://schemas.openxmlformats.org/officeDocument/2006/relationships/image" Target="../media/image33.svg"/><Relationship Id="rId12" Type="http://schemas.openxmlformats.org/officeDocument/2006/relationships/image" Target="../media/image9.png"/><Relationship Id="rId13" Type="http://schemas.openxmlformats.org/officeDocument/2006/relationships/image" Target="../media/image10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Relationship Id="rId4" Type="http://schemas.openxmlformats.org/officeDocument/2006/relationships/image" Target="../media/image24.png"/><Relationship Id="rId5" Type="http://schemas.openxmlformats.org/officeDocument/2006/relationships/image" Target="../media/image25.svg"/><Relationship Id="rId6" Type="http://schemas.openxmlformats.org/officeDocument/2006/relationships/image" Target="../media/image26.png"/><Relationship Id="rId7" Type="http://schemas.openxmlformats.org/officeDocument/2006/relationships/image" Target="../media/image27.svg"/><Relationship Id="rId8" Type="http://schemas.openxmlformats.org/officeDocument/2006/relationships/image" Target="../media/image13.png"/><Relationship Id="rId9" Type="http://schemas.openxmlformats.org/officeDocument/2006/relationships/image" Target="../media/image14.svg"/><Relationship Id="rId10" Type="http://schemas.openxmlformats.org/officeDocument/2006/relationships/image" Target="../media/image9.png"/><Relationship Id="rId11" Type="http://schemas.openxmlformats.org/officeDocument/2006/relationships/image" Target="../media/image10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37.png"/><Relationship Id="rId11" Type="http://schemas.openxmlformats.org/officeDocument/2006/relationships/image" Target="../media/image38.svg"/><Relationship Id="rId12" Type="http://schemas.openxmlformats.org/officeDocument/2006/relationships/image" Target="../media/image17.png"/><Relationship Id="rId13" Type="http://schemas.openxmlformats.org/officeDocument/2006/relationships/image" Target="../media/image18.sv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1320" y="5615759"/>
            <a:ext cx="6503276" cy="4114800"/>
          </a:xfrm>
          <a:custGeom>
            <a:avLst/>
            <a:gdLst/>
            <a:ahLst/>
            <a:cxnLst/>
            <a:rect r="r" b="b" t="t" l="l"/>
            <a:pathLst>
              <a:path h="4114800" w="6503276">
                <a:moveTo>
                  <a:pt x="0" y="0"/>
                </a:moveTo>
                <a:lnTo>
                  <a:pt x="6503276" y="0"/>
                </a:lnTo>
                <a:lnTo>
                  <a:pt x="650327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786864" y="2106633"/>
            <a:ext cx="2814723" cy="4539876"/>
          </a:xfrm>
          <a:custGeom>
            <a:avLst/>
            <a:gdLst/>
            <a:ahLst/>
            <a:cxnLst/>
            <a:rect r="r" b="b" t="t" l="l"/>
            <a:pathLst>
              <a:path h="4539876" w="2814723">
                <a:moveTo>
                  <a:pt x="0" y="0"/>
                </a:moveTo>
                <a:lnTo>
                  <a:pt x="2814724" y="0"/>
                </a:lnTo>
                <a:lnTo>
                  <a:pt x="2814724" y="4539876"/>
                </a:lnTo>
                <a:lnTo>
                  <a:pt x="0" y="4539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55416" y="8291512"/>
            <a:ext cx="4100910" cy="2878093"/>
          </a:xfrm>
          <a:custGeom>
            <a:avLst/>
            <a:gdLst/>
            <a:ahLst/>
            <a:cxnLst/>
            <a:rect r="r" b="b" t="t" l="l"/>
            <a:pathLst>
              <a:path h="2878093" w="4100910">
                <a:moveTo>
                  <a:pt x="0" y="0"/>
                </a:moveTo>
                <a:lnTo>
                  <a:pt x="4100910" y="0"/>
                </a:lnTo>
                <a:lnTo>
                  <a:pt x="4100910" y="2878094"/>
                </a:lnTo>
                <a:lnTo>
                  <a:pt x="0" y="28780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8904" y="2531709"/>
            <a:ext cx="2708287" cy="4114800"/>
          </a:xfrm>
          <a:custGeom>
            <a:avLst/>
            <a:gdLst/>
            <a:ahLst/>
            <a:cxnLst/>
            <a:rect r="r" b="b" t="t" l="l"/>
            <a:pathLst>
              <a:path h="4114800" w="2708287">
                <a:moveTo>
                  <a:pt x="0" y="0"/>
                </a:moveTo>
                <a:lnTo>
                  <a:pt x="2708286" y="0"/>
                </a:lnTo>
                <a:lnTo>
                  <a:pt x="27082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092407" y="8229600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0" y="0"/>
                </a:moveTo>
                <a:lnTo>
                  <a:pt x="6357135" y="0"/>
                </a:lnTo>
                <a:lnTo>
                  <a:pt x="635713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-454268" y="-1028700"/>
            <a:ext cx="2551176" cy="4114800"/>
          </a:xfrm>
          <a:custGeom>
            <a:avLst/>
            <a:gdLst/>
            <a:ahLst/>
            <a:cxnLst/>
            <a:rect r="r" b="b" t="t" l="l"/>
            <a:pathLst>
              <a:path h="4114800" w="2551176">
                <a:moveTo>
                  <a:pt x="2551176" y="0"/>
                </a:moveTo>
                <a:lnTo>
                  <a:pt x="0" y="0"/>
                </a:lnTo>
                <a:lnTo>
                  <a:pt x="0" y="4114800"/>
                </a:lnTo>
                <a:lnTo>
                  <a:pt x="2551176" y="4114800"/>
                </a:lnTo>
                <a:lnTo>
                  <a:pt x="2551176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91544" y="1756544"/>
            <a:ext cx="9443917" cy="3453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0000" spc="-933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Dijkstra's Algorithm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454697" y="5700000"/>
            <a:ext cx="8500000" cy="33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b="true" sz="3000" spc="8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Shreyas Gajbhiye</a:t>
            </a:r>
          </a:p>
          <a:p>
            <a:pPr algn="l">
              <a:lnSpc>
                <a:spcPct val="130000"/>
              </a:lnSpc>
            </a:pPr>
            <a:r>
              <a:rPr lang="en-US" b="true" sz="3000" spc="8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PRN: 25070521206  |  Sec 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56030" y="7759892"/>
            <a:ext cx="2703270" cy="92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4"/>
              </a:lnSpc>
            </a:pPr>
            <a:r>
              <a:rPr lang="en-US" sz="1353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Shortest path in weighted graphs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1878" y="-466924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8" y="0"/>
                </a:lnTo>
                <a:lnTo>
                  <a:pt x="2870338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34000" y="4435827"/>
            <a:ext cx="5511729" cy="3868232"/>
          </a:xfrm>
          <a:custGeom>
            <a:avLst/>
            <a:gdLst/>
            <a:ahLst/>
            <a:cxnLst/>
            <a:rect r="r" b="b" t="t" l="l"/>
            <a:pathLst>
              <a:path h="3868232" w="5511729">
                <a:moveTo>
                  <a:pt x="0" y="0"/>
                </a:moveTo>
                <a:lnTo>
                  <a:pt x="5511729" y="0"/>
                </a:lnTo>
                <a:lnTo>
                  <a:pt x="5511729" y="3868232"/>
                </a:lnTo>
                <a:lnTo>
                  <a:pt x="0" y="3868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96463" y="1028700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4" y="0"/>
                </a:lnTo>
                <a:lnTo>
                  <a:pt x="3841974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0492" y="6813873"/>
            <a:ext cx="7574475" cy="4902751"/>
          </a:xfrm>
          <a:custGeom>
            <a:avLst/>
            <a:gdLst/>
            <a:ahLst/>
            <a:cxnLst/>
            <a:rect r="r" b="b" t="t" l="l"/>
            <a:pathLst>
              <a:path h="4902751" w="7574475">
                <a:moveTo>
                  <a:pt x="0" y="0"/>
                </a:moveTo>
                <a:lnTo>
                  <a:pt x="7574475" y="0"/>
                </a:lnTo>
                <a:lnTo>
                  <a:pt x="7574475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66515" y="5807652"/>
            <a:ext cx="1832956" cy="2057400"/>
          </a:xfrm>
          <a:custGeom>
            <a:avLst/>
            <a:gdLst/>
            <a:ahLst/>
            <a:cxnLst/>
            <a:rect r="r" b="b" t="t" l="l"/>
            <a:pathLst>
              <a:path h="2057400" w="1832956">
                <a:moveTo>
                  <a:pt x="0" y="0"/>
                </a:moveTo>
                <a:lnTo>
                  <a:pt x="1832957" y="0"/>
                </a:lnTo>
                <a:lnTo>
                  <a:pt x="183295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00303" y="2251108"/>
            <a:ext cx="6658997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00303" y="5667444"/>
            <a:ext cx="6658997" cy="219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Proposed by Edsger W. Dijkstra in 1956. It is a greedy algorithm: at every step it settles the closest unvisited node, so a node's distance is final once it is picked. Works for graphs with non-negative edge weights.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00303" y="4012761"/>
            <a:ext cx="5481737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Finds the shortest path from one source node to every other node in a weighted graph.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68821" y="3776476"/>
            <a:ext cx="4492767" cy="4386574"/>
          </a:xfrm>
          <a:custGeom>
            <a:avLst/>
            <a:gdLst/>
            <a:ahLst/>
            <a:cxnLst/>
            <a:rect r="r" b="b" t="t" l="l"/>
            <a:pathLst>
              <a:path h="4386574" w="4492767">
                <a:moveTo>
                  <a:pt x="0" y="0"/>
                </a:moveTo>
                <a:lnTo>
                  <a:pt x="4492766" y="0"/>
                </a:lnTo>
                <a:lnTo>
                  <a:pt x="4492766" y="4386574"/>
                </a:lnTo>
                <a:lnTo>
                  <a:pt x="0" y="4386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031273" y="1072383"/>
            <a:ext cx="3106566" cy="4250276"/>
          </a:xfrm>
          <a:custGeom>
            <a:avLst/>
            <a:gdLst/>
            <a:ahLst/>
            <a:cxnLst/>
            <a:rect r="r" b="b" t="t" l="l"/>
            <a:pathLst>
              <a:path h="4250276" w="3106566">
                <a:moveTo>
                  <a:pt x="3106566" y="0"/>
                </a:moveTo>
                <a:lnTo>
                  <a:pt x="0" y="0"/>
                </a:lnTo>
                <a:lnTo>
                  <a:pt x="0" y="4250277"/>
                </a:lnTo>
                <a:lnTo>
                  <a:pt x="3106566" y="4250277"/>
                </a:lnTo>
                <a:lnTo>
                  <a:pt x="310656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913926" y="4898623"/>
            <a:ext cx="3812587" cy="2675743"/>
          </a:xfrm>
          <a:custGeom>
            <a:avLst/>
            <a:gdLst/>
            <a:ahLst/>
            <a:cxnLst/>
            <a:rect r="r" b="b" t="t" l="l"/>
            <a:pathLst>
              <a:path h="2675743" w="3812587">
                <a:moveTo>
                  <a:pt x="0" y="0"/>
                </a:moveTo>
                <a:lnTo>
                  <a:pt x="3812588" y="0"/>
                </a:lnTo>
                <a:lnTo>
                  <a:pt x="3812588" y="2675743"/>
                </a:lnTo>
                <a:lnTo>
                  <a:pt x="0" y="26757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46295" y="8811581"/>
            <a:ext cx="4510398" cy="2903056"/>
          </a:xfrm>
          <a:custGeom>
            <a:avLst/>
            <a:gdLst/>
            <a:ahLst/>
            <a:cxnLst/>
            <a:rect r="r" b="b" t="t" l="l"/>
            <a:pathLst>
              <a:path h="2903056" w="4510398">
                <a:moveTo>
                  <a:pt x="0" y="0"/>
                </a:moveTo>
                <a:lnTo>
                  <a:pt x="4510398" y="0"/>
                </a:lnTo>
                <a:lnTo>
                  <a:pt x="4510398" y="2903056"/>
                </a:lnTo>
                <a:lnTo>
                  <a:pt x="0" y="29030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92664" y="1606629"/>
            <a:ext cx="950000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9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Time Complexity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2664" y="3648065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9975" y="3544997"/>
            <a:ext cx="750000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6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Simple array: O(V^2). Easy to code, good for dense graphs.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92664" y="5525236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009975" y="5422168"/>
            <a:ext cx="750000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6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Binary min-heap: O((V + E) log V). The most common choice.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92664" y="7612391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9975" y="7509323"/>
            <a:ext cx="750000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6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Fibonacci heap: O(E + V log V). Best theoretical bound.</a:t>
            </a:r>
          </a:p>
        </p:txBody>
      </p:sp>
      <p:sp>
        <p:nvSpPr>
          <p:cNvPr name="Freeform 13" id="13"/>
          <p:cNvSpPr/>
          <p:nvPr/>
        </p:nvSpPr>
        <p:spPr>
          <a:xfrm flipH="true" flipV="false" rot="0">
            <a:off x="10768821" y="789751"/>
            <a:ext cx="2430360" cy="3454000"/>
          </a:xfrm>
          <a:custGeom>
            <a:avLst/>
            <a:gdLst/>
            <a:ahLst/>
            <a:cxnLst/>
            <a:rect r="r" b="b" t="t" l="l"/>
            <a:pathLst>
              <a:path h="3454000" w="2430360">
                <a:moveTo>
                  <a:pt x="2430359" y="0"/>
                </a:moveTo>
                <a:lnTo>
                  <a:pt x="0" y="0"/>
                </a:lnTo>
                <a:lnTo>
                  <a:pt x="0" y="3454000"/>
                </a:lnTo>
                <a:lnTo>
                  <a:pt x="2430359" y="3454000"/>
                </a:lnTo>
                <a:lnTo>
                  <a:pt x="243035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3199180" y="7200900"/>
            <a:ext cx="6357135" cy="4114800"/>
          </a:xfrm>
          <a:custGeom>
            <a:avLst/>
            <a:gdLst/>
            <a:ahLst/>
            <a:cxnLst/>
            <a:rect r="r" b="b" t="t" l="l"/>
            <a:pathLst>
              <a:path h="4114800" w="6357135">
                <a:moveTo>
                  <a:pt x="6357135" y="0"/>
                </a:moveTo>
                <a:lnTo>
                  <a:pt x="0" y="0"/>
                </a:lnTo>
                <a:lnTo>
                  <a:pt x="0" y="4114800"/>
                </a:lnTo>
                <a:lnTo>
                  <a:pt x="6357135" y="4114800"/>
                </a:lnTo>
                <a:lnTo>
                  <a:pt x="6357135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8159" y="1633475"/>
            <a:ext cx="8521412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Step-by-step</a:t>
            </a:r>
          </a:p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trace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8159" y="7500000"/>
            <a:ext cx="8500000" cy="2197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Result: A = 0, B = 3, C = 2, D = 8, E = 10. Shortest path A to E: A -&gt; C -&gt; B -&gt; D -&gt; E (cost 10).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8159" y="4873185"/>
            <a:ext cx="850000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Start: A = 0, all others = infinity</a:t>
            </a:r>
          </a:p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Visit A: B = 4, C = 2</a:t>
            </a:r>
          </a:p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Visit C: B = 3 (via C), D = 10, E = 12</a:t>
            </a:r>
          </a:p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Visit B: D = 8 (via B)</a:t>
            </a:r>
          </a:p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Visit D: E = 10 (via D)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1752239" y="-196191"/>
            <a:ext cx="2870338" cy="4902751"/>
          </a:xfrm>
          <a:custGeom>
            <a:avLst/>
            <a:gdLst/>
            <a:ahLst/>
            <a:cxnLst/>
            <a:rect r="r" b="b" t="t" l="l"/>
            <a:pathLst>
              <a:path h="4902751" w="2870338">
                <a:moveTo>
                  <a:pt x="0" y="0"/>
                </a:moveTo>
                <a:lnTo>
                  <a:pt x="2870337" y="0"/>
                </a:lnTo>
                <a:lnTo>
                  <a:pt x="2870337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96361" y="4706560"/>
            <a:ext cx="5511729" cy="3868232"/>
          </a:xfrm>
          <a:custGeom>
            <a:avLst/>
            <a:gdLst/>
            <a:ahLst/>
            <a:cxnLst/>
            <a:rect r="r" b="b" t="t" l="l"/>
            <a:pathLst>
              <a:path h="3868232" w="5511729">
                <a:moveTo>
                  <a:pt x="0" y="0"/>
                </a:moveTo>
                <a:lnTo>
                  <a:pt x="5511729" y="0"/>
                </a:lnTo>
                <a:lnTo>
                  <a:pt x="5511729" y="3868231"/>
                </a:lnTo>
                <a:lnTo>
                  <a:pt x="0" y="3868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26823" y="1299432"/>
            <a:ext cx="3841974" cy="4902751"/>
          </a:xfrm>
          <a:custGeom>
            <a:avLst/>
            <a:gdLst/>
            <a:ahLst/>
            <a:cxnLst/>
            <a:rect r="r" b="b" t="t" l="l"/>
            <a:pathLst>
              <a:path h="4902751" w="3841974">
                <a:moveTo>
                  <a:pt x="0" y="0"/>
                </a:moveTo>
                <a:lnTo>
                  <a:pt x="3841975" y="0"/>
                </a:lnTo>
                <a:lnTo>
                  <a:pt x="3841975" y="4902752"/>
                </a:lnTo>
                <a:lnTo>
                  <a:pt x="0" y="49027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620852" y="7084606"/>
            <a:ext cx="7574475" cy="4902751"/>
          </a:xfrm>
          <a:custGeom>
            <a:avLst/>
            <a:gdLst/>
            <a:ahLst/>
            <a:cxnLst/>
            <a:rect r="r" b="b" t="t" l="l"/>
            <a:pathLst>
              <a:path h="4902751" w="7574475">
                <a:moveTo>
                  <a:pt x="0" y="0"/>
                </a:moveTo>
                <a:lnTo>
                  <a:pt x="7574476" y="0"/>
                </a:lnTo>
                <a:lnTo>
                  <a:pt x="7574476" y="4902751"/>
                </a:lnTo>
                <a:lnTo>
                  <a:pt x="0" y="490275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177156" y="7945246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69339" y="1713861"/>
            <a:ext cx="7333825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31"/>
              </a:lnSpc>
            </a:pPr>
            <a:r>
              <a:rPr lang="en-US" b="true" sz="10000" spc="-725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4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944774" y="4120019"/>
            <a:ext cx="3354861" cy="4483132"/>
            <a:chOff x="0" y="0"/>
            <a:chExt cx="933099" cy="12469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680190" y="4120019"/>
            <a:ext cx="3354861" cy="4483132"/>
            <a:chOff x="0" y="0"/>
            <a:chExt cx="933099" cy="12469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12886" y="4120019"/>
            <a:ext cx="3354861" cy="4483132"/>
            <a:chOff x="0" y="0"/>
            <a:chExt cx="933099" cy="12469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148303" y="4120019"/>
            <a:ext cx="3354861" cy="4483132"/>
            <a:chOff x="0" y="0"/>
            <a:chExt cx="933099" cy="12469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33099" cy="1246909"/>
            </a:xfrm>
            <a:custGeom>
              <a:avLst/>
              <a:gdLst/>
              <a:ahLst/>
              <a:cxnLst/>
              <a:rect r="r" b="b" t="t" l="l"/>
              <a:pathLst>
                <a:path h="1246909" w="933099">
                  <a:moveTo>
                    <a:pt x="0" y="0"/>
                  </a:moveTo>
                  <a:lnTo>
                    <a:pt x="933099" y="0"/>
                  </a:lnTo>
                  <a:lnTo>
                    <a:pt x="933099" y="1246909"/>
                  </a:lnTo>
                  <a:lnTo>
                    <a:pt x="0" y="1246909"/>
                  </a:lnTo>
                  <a:close/>
                </a:path>
              </a:pathLst>
            </a:custGeom>
            <a:solidFill>
              <a:srgbClr val="5284FF">
                <a:alpha val="89804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33099" cy="12850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510269" y="5323221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8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Set the source distance to 0 and every other node to infinity. Mark all nodes unvisited.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26652" y="4836189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1. Initialize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244326" y="5326464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8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Pick the unvisited node with the smallest known distance (a min-priority queue does this fast).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60709" y="4839433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2. Pick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75893" y="5323221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8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For each neighbour v of u: if dist[u] + w(u,v) &lt; dist[v], update dist[v] and store u as its parent.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92276" y="4836189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3. Relax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07461" y="5319978"/>
            <a:ext cx="2223870" cy="2633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4"/>
              </a:lnSpc>
            </a:pPr>
            <a:r>
              <a:rPr lang="en-US" sz="18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Mark the node as visited. Repeat until all nodes (or the target) are visited.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23844" y="4832946"/>
            <a:ext cx="2791104" cy="30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b="true" sz="2556" spc="-1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4. Repeat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27923" y="-1257149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6" y="0"/>
                </a:lnTo>
                <a:lnTo>
                  <a:pt x="4106216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2200587" y="-2810600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2200587" y="7703353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-1573503" y="3134857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4" y="0"/>
                </a:lnTo>
                <a:lnTo>
                  <a:pt x="2644244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2664" y="1606629"/>
            <a:ext cx="14798134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9000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Applications &amp; Limits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92664" y="3648065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1.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09975" y="3544997"/>
            <a:ext cx="600000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Maps &amp; GPS: finds the fastest route between two places.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2664" y="5525236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2.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09975" y="5422168"/>
            <a:ext cx="600000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Network routing: OSPF and IS-IS use it to pick shortest paths.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2664" y="7612391"/>
            <a:ext cx="1605120" cy="1410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3.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09975" y="7509323"/>
            <a:ext cx="6000000" cy="1302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Limitation: fails with negative edge weights (use Bellman-Ford).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718898" y="5390422"/>
            <a:ext cx="4106217" cy="4571699"/>
          </a:xfrm>
          <a:custGeom>
            <a:avLst/>
            <a:gdLst/>
            <a:ahLst/>
            <a:cxnLst/>
            <a:rect r="r" b="b" t="t" l="l"/>
            <a:pathLst>
              <a:path h="4571699" w="4106217">
                <a:moveTo>
                  <a:pt x="0" y="0"/>
                </a:moveTo>
                <a:lnTo>
                  <a:pt x="4106217" y="0"/>
                </a:lnTo>
                <a:lnTo>
                  <a:pt x="4106217" y="4571698"/>
                </a:lnTo>
                <a:lnTo>
                  <a:pt x="0" y="4571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73063" y="3623175"/>
            <a:ext cx="3898412" cy="4571699"/>
          </a:xfrm>
          <a:custGeom>
            <a:avLst/>
            <a:gdLst/>
            <a:ahLst/>
            <a:cxnLst/>
            <a:rect r="r" b="b" t="t" l="l"/>
            <a:pathLst>
              <a:path h="4571699" w="3898412">
                <a:moveTo>
                  <a:pt x="0" y="0"/>
                </a:moveTo>
                <a:lnTo>
                  <a:pt x="3898412" y="0"/>
                </a:lnTo>
                <a:lnTo>
                  <a:pt x="3898412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358208" y="1263729"/>
            <a:ext cx="3341496" cy="4571699"/>
          </a:xfrm>
          <a:custGeom>
            <a:avLst/>
            <a:gdLst/>
            <a:ahLst/>
            <a:cxnLst/>
            <a:rect r="r" b="b" t="t" l="l"/>
            <a:pathLst>
              <a:path h="4571699" w="3341496">
                <a:moveTo>
                  <a:pt x="0" y="0"/>
                </a:moveTo>
                <a:lnTo>
                  <a:pt x="3341496" y="0"/>
                </a:lnTo>
                <a:lnTo>
                  <a:pt x="3341496" y="4571699"/>
                </a:lnTo>
                <a:lnTo>
                  <a:pt x="0" y="45716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074655" y="8589082"/>
            <a:ext cx="2644244" cy="4516565"/>
          </a:xfrm>
          <a:custGeom>
            <a:avLst/>
            <a:gdLst/>
            <a:ahLst/>
            <a:cxnLst/>
            <a:rect r="r" b="b" t="t" l="l"/>
            <a:pathLst>
              <a:path h="4516565" w="2644244">
                <a:moveTo>
                  <a:pt x="0" y="0"/>
                </a:moveTo>
                <a:lnTo>
                  <a:pt x="2644243" y="0"/>
                </a:lnTo>
                <a:lnTo>
                  <a:pt x="2644243" y="4516565"/>
                </a:lnTo>
                <a:lnTo>
                  <a:pt x="0" y="45165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44000" y="4182055"/>
            <a:ext cx="2848578" cy="1843807"/>
          </a:xfrm>
          <a:custGeom>
            <a:avLst/>
            <a:gdLst/>
            <a:ahLst/>
            <a:cxnLst/>
            <a:rect r="r" b="b" t="t" l="l"/>
            <a:pathLst>
              <a:path h="1843807" w="2848578">
                <a:moveTo>
                  <a:pt x="0" y="0"/>
                </a:moveTo>
                <a:lnTo>
                  <a:pt x="2848578" y="0"/>
                </a:lnTo>
                <a:lnTo>
                  <a:pt x="2848578" y="1843806"/>
                </a:lnTo>
                <a:lnTo>
                  <a:pt x="0" y="1843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3" id="3"/>
          <p:cNvSpPr txBox="true"/>
          <p:nvPr/>
        </p:nvSpPr>
        <p:spPr>
          <a:xfrm rot="0">
            <a:off x="1832061" y="5701024"/>
            <a:ext cx="6159427" cy="269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Worked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32061" y="1797273"/>
            <a:ext cx="4377453" cy="3092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2400">
                <a:solidFill>
                  <a:srgbClr val="1C0140"/>
                </a:solidFill>
                <a:latin typeface="Proxima Nova"/>
                <a:ea typeface="Proxima Nova"/>
                <a:cs typeface="Proxima Nova"/>
                <a:sym typeface="Proxima Nova"/>
              </a:rPr>
              <a:t>A graph with 5 nodes (A to E) and weighted edges. Source = A. Goal: shortest distance from A to every node. Bold blue edges show the final shortest paths.</a:t>
            </a:r>
          </a:p>
        </p:txBody>
      </p:sp>
      <p:pic>
        <p:nvPicPr>
          <p:cNvPr id="5" name="Picture 4" descr="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359" y="575160"/>
            <a:ext cx="9714634" cy="91366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FC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26315" y="7717946"/>
            <a:ext cx="7717685" cy="140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1"/>
              </a:lnSpc>
            </a:pPr>
            <a:r>
              <a:rPr lang="en-US" sz="11513" spc="-725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212772" y="8251110"/>
            <a:ext cx="7607678" cy="4813586"/>
          </a:xfrm>
          <a:custGeom>
            <a:avLst/>
            <a:gdLst/>
            <a:ahLst/>
            <a:cxnLst/>
            <a:rect r="r" b="b" t="t" l="l"/>
            <a:pathLst>
              <a:path h="4813586" w="7607678">
                <a:moveTo>
                  <a:pt x="0" y="0"/>
                </a:moveTo>
                <a:lnTo>
                  <a:pt x="7607679" y="0"/>
                </a:lnTo>
                <a:lnTo>
                  <a:pt x="7607679" y="4813586"/>
                </a:lnTo>
                <a:lnTo>
                  <a:pt x="0" y="481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81933" y="4146056"/>
            <a:ext cx="3292727" cy="5310849"/>
          </a:xfrm>
          <a:custGeom>
            <a:avLst/>
            <a:gdLst/>
            <a:ahLst/>
            <a:cxnLst/>
            <a:rect r="r" b="b" t="t" l="l"/>
            <a:pathLst>
              <a:path h="5310849" w="3292727">
                <a:moveTo>
                  <a:pt x="0" y="0"/>
                </a:moveTo>
                <a:lnTo>
                  <a:pt x="3292727" y="0"/>
                </a:lnTo>
                <a:lnTo>
                  <a:pt x="3292727" y="5310849"/>
                </a:lnTo>
                <a:lnTo>
                  <a:pt x="0" y="53108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79773" y="6145918"/>
            <a:ext cx="3168214" cy="4813586"/>
          </a:xfrm>
          <a:custGeom>
            <a:avLst/>
            <a:gdLst/>
            <a:ahLst/>
            <a:cxnLst/>
            <a:rect r="r" b="b" t="t" l="l"/>
            <a:pathLst>
              <a:path h="4813586" w="3168214">
                <a:moveTo>
                  <a:pt x="0" y="0"/>
                </a:moveTo>
                <a:lnTo>
                  <a:pt x="3168214" y="0"/>
                </a:lnTo>
                <a:lnTo>
                  <a:pt x="3168214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98661" y="1432573"/>
            <a:ext cx="2984423" cy="4813586"/>
          </a:xfrm>
          <a:custGeom>
            <a:avLst/>
            <a:gdLst/>
            <a:ahLst/>
            <a:cxnLst/>
            <a:rect r="r" b="b" t="t" l="l"/>
            <a:pathLst>
              <a:path h="4813586" w="2984423">
                <a:moveTo>
                  <a:pt x="0" y="0"/>
                </a:moveTo>
                <a:lnTo>
                  <a:pt x="2984423" y="0"/>
                </a:lnTo>
                <a:lnTo>
                  <a:pt x="2984423" y="4813585"/>
                </a:lnTo>
                <a:lnTo>
                  <a:pt x="0" y="48135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81933" y="541097"/>
            <a:ext cx="1523200" cy="3298268"/>
          </a:xfrm>
          <a:custGeom>
            <a:avLst/>
            <a:gdLst/>
            <a:ahLst/>
            <a:cxnLst/>
            <a:rect r="r" b="b" t="t" l="l"/>
            <a:pathLst>
              <a:path h="3298268" w="1523200">
                <a:moveTo>
                  <a:pt x="0" y="0"/>
                </a:moveTo>
                <a:lnTo>
                  <a:pt x="1523200" y="0"/>
                </a:lnTo>
                <a:lnTo>
                  <a:pt x="1523200" y="3298268"/>
                </a:lnTo>
                <a:lnTo>
                  <a:pt x="0" y="3298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699662" y="4356453"/>
            <a:ext cx="1477446" cy="3199194"/>
          </a:xfrm>
          <a:custGeom>
            <a:avLst/>
            <a:gdLst/>
            <a:ahLst/>
            <a:cxnLst/>
            <a:rect r="r" b="b" t="t" l="l"/>
            <a:pathLst>
              <a:path h="3199194" w="1477446">
                <a:moveTo>
                  <a:pt x="0" y="0"/>
                </a:moveTo>
                <a:lnTo>
                  <a:pt x="1477446" y="0"/>
                </a:lnTo>
                <a:lnTo>
                  <a:pt x="1477446" y="3199195"/>
                </a:lnTo>
                <a:lnTo>
                  <a:pt x="0" y="3199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974660" y="-787980"/>
            <a:ext cx="2884906" cy="3238159"/>
          </a:xfrm>
          <a:custGeom>
            <a:avLst/>
            <a:gdLst/>
            <a:ahLst/>
            <a:cxnLst/>
            <a:rect r="r" b="b" t="t" l="l"/>
            <a:pathLst>
              <a:path h="3238159" w="2884906">
                <a:moveTo>
                  <a:pt x="0" y="0"/>
                </a:moveTo>
                <a:lnTo>
                  <a:pt x="2884905" y="0"/>
                </a:lnTo>
                <a:lnTo>
                  <a:pt x="2884905" y="3238159"/>
                </a:lnTo>
                <a:lnTo>
                  <a:pt x="0" y="32381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6315" y="1623892"/>
            <a:ext cx="4541031" cy="163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4"/>
              </a:lnSpc>
            </a:pPr>
            <a:r>
              <a:rPr lang="en-US" sz="6948" spc="-437" b="true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Dijkstra's Algorithm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6315" y="3584570"/>
            <a:ext cx="9000000" cy="254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b="true" sz="2118" spc="61">
                <a:solidFill>
                  <a:srgbClr val="1C014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Shreyas Gajbhiye  |  PRN: 25070521206  |  Sec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DAHYqHv-Bos</dc:identifier>
  <dcterms:modified xsi:type="dcterms:W3CDTF">2011-08-01T06:04:30Z</dcterms:modified>
  <cp:revision>1</cp:revision>
  <dc:title>Light Blue and Dark Blue Illustration Technology Startup Presentation</dc:title>
</cp:coreProperties>
</file>